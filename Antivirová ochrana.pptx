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79" r:id="rId5"/>
    <p:sldId id="278" r:id="rId6"/>
    <p:sldId id="284" r:id="rId7"/>
    <p:sldId id="285" r:id="rId8"/>
    <p:sldId id="286" r:id="rId9"/>
    <p:sldId id="287" r:id="rId10"/>
    <p:sldId id="288" r:id="rId11"/>
    <p:sldId id="265" r:id="rId12"/>
    <p:sldId id="267" r:id="rId13"/>
    <p:sldId id="268" r:id="rId14"/>
    <p:sldId id="280" r:id="rId15"/>
    <p:sldId id="281" r:id="rId16"/>
    <p:sldId id="282" r:id="rId17"/>
    <p:sldId id="283" r:id="rId18"/>
    <p:sldId id="298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59" r:id="rId28"/>
    <p:sldId id="270" r:id="rId29"/>
    <p:sldId id="271" r:id="rId30"/>
    <p:sldId id="272" r:id="rId31"/>
    <p:sldId id="277" r:id="rId32"/>
    <p:sldId id="273" r:id="rId33"/>
    <p:sldId id="274" r:id="rId34"/>
    <p:sldId id="275" r:id="rId35"/>
    <p:sldId id="276" r:id="rId36"/>
    <p:sldId id="289" r:id="rId3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284C6A"/>
    <a:srgbClr val="FF00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4600" autoAdjust="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8DC31B6-7B3A-F898-7CE1-DC4D43EF291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cs-CZ" altLang="cs-CZ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2D3C376-7E54-63A2-473F-A0069E6F50A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cs-CZ" altLang="cs-CZ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A52824E-B403-CD3C-A2FC-C6A3661D09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cs-CZ" altLang="cs-CZ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8276A217-1A52-1784-F64A-3A8B0C098B5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AD01142B-9458-4296-B512-685F366BBC02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9DF1D0F-948A-14FA-6DBF-DC3C131C19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cs-CZ" altLang="cs-CZ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3D06855-4F58-8445-C4BD-CD2A55CA024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cs-CZ" altLang="cs-CZ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57709E4B-A2DC-BFCE-5D10-010E544A5DA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654618C-3938-E31D-7F27-5732A71359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53E7EF07-BE44-D4C4-46B6-A8324A7DA8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endParaRPr lang="cs-CZ" altLang="cs-CZ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401962D5-F9FB-E4AB-7747-E3A1376391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374DFBFF-EBF1-460F-8AF9-0926796E061A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32E245F1-DC01-B994-409A-EB114A9F99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7700" y="1447800"/>
            <a:ext cx="7848600" cy="12954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cs-CZ" altLang="cs-CZ" noProof="0"/>
              <a:t>Klepnutím lze upravit styl předlohy nadpisů.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BF4026C3-4DBC-C732-7234-5DD9AA0FFD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3400" y="3048000"/>
            <a:ext cx="8077200" cy="635000"/>
          </a:xfrm>
        </p:spPr>
        <p:txBody>
          <a:bodyPr/>
          <a:lstStyle>
            <a:lvl1pPr marL="0" indent="0" algn="ctr">
              <a:buFontTx/>
              <a:buNone/>
              <a:defRPr sz="3600"/>
            </a:lvl1pPr>
          </a:lstStyle>
          <a:p>
            <a:pPr lvl="0"/>
            <a:r>
              <a:rPr lang="cs-CZ" altLang="cs-CZ" noProof="0"/>
              <a:t>Klepnutím lze upravit styl předlohy podnadpisů.</a:t>
            </a:r>
          </a:p>
        </p:txBody>
      </p:sp>
      <p:sp>
        <p:nvSpPr>
          <p:cNvPr id="109572" name="Rectangle 4">
            <a:extLst>
              <a:ext uri="{FF2B5EF4-FFF2-40B4-BE49-F238E27FC236}">
                <a16:creationId xmlns:a16="http://schemas.microsoft.com/office/drawing/2014/main" id="{D30A8A40-8CDE-E969-CCE3-19F35A9C0F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latin typeface="+mn-lt"/>
              </a:defRPr>
            </a:lvl1pPr>
          </a:lstStyle>
          <a:p>
            <a:endParaRPr lang="cs-CZ" altLang="cs-CZ"/>
          </a:p>
        </p:txBody>
      </p:sp>
      <p:sp>
        <p:nvSpPr>
          <p:cNvPr id="109573" name="Rectangle 5">
            <a:extLst>
              <a:ext uri="{FF2B5EF4-FFF2-40B4-BE49-F238E27FC236}">
                <a16:creationId xmlns:a16="http://schemas.microsoft.com/office/drawing/2014/main" id="{92DC5B2B-9756-0A75-1A41-A39913A56A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latin typeface="+mn-lt"/>
              </a:defRPr>
            </a:lvl1pPr>
          </a:lstStyle>
          <a:p>
            <a:endParaRPr lang="cs-CZ" altLang="cs-CZ"/>
          </a:p>
        </p:txBody>
      </p:sp>
      <p:sp>
        <p:nvSpPr>
          <p:cNvPr id="109574" name="Rectangle 6">
            <a:extLst>
              <a:ext uri="{FF2B5EF4-FFF2-40B4-BE49-F238E27FC236}">
                <a16:creationId xmlns:a16="http://schemas.microsoft.com/office/drawing/2014/main" id="{90741709-2D16-6AE3-E9B9-D505FEABBE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latin typeface="+mn-lt"/>
              </a:defRPr>
            </a:lvl1pPr>
          </a:lstStyle>
          <a:p>
            <a:fld id="{A08A6A2E-A249-4481-8AC4-878B3AA816A4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3FB2F4-8F64-352E-3D74-DC1229E99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13A393-5D20-2F34-6886-CFE0AA2DB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9F7BA4-4BE8-B112-2C74-6A4F27F6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F48A6F5-EC6F-A7A2-54E6-A8D0AF06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3980104-13C7-241C-0896-F80B11AD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2E08B1-D85B-4800-97D9-9698C48AEA81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49713409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D8F9C1-BAD0-D5C4-BDE1-26C2FE7D3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32E4383-A6E8-FAD5-CBFA-7164D65AA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A13826D-BF04-BC22-BA31-C293F53D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E2766C3-6079-3DD8-0C97-966966C4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7A30AF-5B89-489F-5913-A4B6FF94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AB25A8-0F11-4E00-91CB-03699220591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09025733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44E4AB-44C5-0D62-066A-FA8B3A64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38A803-D1FC-5F5D-9FF3-6AC15D0AA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3962400" cy="4495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C262D29-B036-4442-AB61-60C3B590F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905000"/>
            <a:ext cx="3962400" cy="4495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98A2E83-82E0-F957-310C-ACEDCDD04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3E957F1-20C6-DA5A-7587-EFD97A548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F3C65D7-787C-C214-C517-16E22C98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F55C80-2F15-40C8-AF15-A1870250D807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25513732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44D68D-CA0C-0B89-B1A9-237DFED8F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9D6D12B-33DC-4B23-3DCB-6A917BFDC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61F6278-40F5-9944-82FA-40A4A1E78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AE109FE-AD41-3D87-C250-14AD3B865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CA6DB8A-C2E5-208B-6360-6115D6661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C407F9F-1F91-8DA5-F569-A587C1051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86D0226-DC3A-8364-6067-7B7626B0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32AA848-73DB-1E10-F8E3-094942D4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DDAC52-4AF6-4B4A-86B5-63F491B6AE2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18256388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823314-64B1-6288-D22C-1890F0825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513375F-55D4-88E0-FFA7-27E3EBC6A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AB103D-1C7E-AF27-9743-994C0283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CD64030-745E-DFA3-2D52-3992E0BB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138F59-FE89-47EF-8573-A5A7C5A6E2B4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98047562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7A2E72E-F2ED-2998-214B-04972AB6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A0984A2-0112-A682-88F5-28F11416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DABF644-4B57-1C14-2331-2A546D464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39DE3-091C-44A1-8011-B449F6DC690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34236489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1F0312-D443-EE87-FBBE-22D30E52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823547-1F5A-3997-3192-37A7D745C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7302376-D672-A2BC-3E47-FC794BBAE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2301006-4306-D55D-E7A1-CA74A1F0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C23F121-98AA-FCCE-3001-D7A91A323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735ACDF-344E-6B5B-629A-E28AB7AF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C2B7AE-7BD8-43D5-B0DC-BBCED69419C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4854757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0A6A1DE-1592-1D7B-99A2-47A399C16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0006675-AF6A-7311-8B09-C21300F66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E87BE4D-4759-68E4-646B-F0C9C5A0D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1501CD8-F8BB-0E03-EC73-CA0102B67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5EB2B48-1E7C-9FCA-41C5-FCB9D48F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5D1BC62-8F03-25F4-7694-07B81234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F06A5A-CFAF-445C-863B-B389CF2F8874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87936183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7C047C-A594-D479-9912-33E7BC2A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AE63CDD-32CC-1632-D652-65BD1BEE8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E339A21-3E73-B756-DBED-DEEFEA20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372AD1-9182-B6B8-6E5F-11A9B6B2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FF88155-D0F6-981D-B0AA-37E139C9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E65ED9-E124-4292-B42B-FF28344301C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3127239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E6398E0-BDB7-F6BB-A5CA-C532E63FC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85800"/>
            <a:ext cx="2019300" cy="5715000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A878143-E6BA-BB6D-C9D8-CE984FF60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5905500" cy="571500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75EA27-5D49-B775-D8AF-ADC0F14CC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0923E7-A670-5738-7699-65167FAE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566EB9-B54F-41B0-B265-C0B887694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BCCDE-FEC1-4738-BF06-25776A07F8B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19542496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Nadpis, text a 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16FF56-DC67-BC20-E02E-F317330DB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077200" cy="9144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B46A18D-C3F7-3D1D-53E1-8EE6E31406E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905000"/>
            <a:ext cx="3962400" cy="44958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7EB45A8-86F0-E175-8A6F-B806C605D75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572000" y="1905000"/>
            <a:ext cx="3962400" cy="2171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CF4B6F00-3680-7A75-F8A2-931D1EF4A4E3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0" y="4229100"/>
            <a:ext cx="3962400" cy="2171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datum 5">
            <a:extLst>
              <a:ext uri="{FF2B5EF4-FFF2-40B4-BE49-F238E27FC236}">
                <a16:creationId xmlns:a16="http://schemas.microsoft.com/office/drawing/2014/main" id="{DCA976FC-6552-9073-E398-91A906CF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980B3988-45BD-7659-F9D2-2CC1686DD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F6F08A0C-8EFB-FE7A-B512-E755E0BB5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6294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D2371573-5328-4B8B-ACAB-8E6ACFD0904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578693699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5A29CE-0B6D-2DB7-F876-0962853BB928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685800"/>
            <a:ext cx="8077200" cy="9144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9FA1CD-5686-AD8B-10E6-890BE1DFA40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3962400" cy="2171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AAFF126-C264-676C-EB3E-0F0977C0C9F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572000" y="1905000"/>
            <a:ext cx="3962400" cy="2171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8FD719A2-8E21-0265-6F71-32E08D71157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4229100"/>
            <a:ext cx="3962400" cy="2171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1219996-67AF-59AB-236F-07F3FAB5AE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00" y="4229100"/>
            <a:ext cx="3962400" cy="21717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F9D8BED-F9DD-D8F0-C5A8-ED33C1EF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0D02F46-E19B-3073-7D32-37900298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629400"/>
            <a:ext cx="2895600" cy="228600"/>
          </a:xfrm>
        </p:spPr>
        <p:txBody>
          <a:bodyPr/>
          <a:lstStyle>
            <a:lvl1pPr>
              <a:defRPr/>
            </a:lvl1pPr>
          </a:lstStyle>
          <a:p>
            <a:endParaRPr lang="cs-CZ" alt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8417E31-ECB5-425A-F9A5-BE873519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6294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E1F3184B-EBFB-482E-9D74-063E3B000AF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9262485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2C6FAA4C-CE87-58BA-16C2-47AA031D4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Text s odrážkami na druhé úrovni</a:t>
            </a:r>
          </a:p>
          <a:p>
            <a:pPr lvl="2"/>
            <a:r>
              <a:rPr lang="cs-CZ" altLang="cs-CZ"/>
              <a:t>Text s odrážkami na třetí úrovni</a:t>
            </a:r>
          </a:p>
          <a:p>
            <a:pPr lvl="3"/>
            <a:r>
              <a:rPr lang="cs-CZ" altLang="cs-CZ"/>
              <a:t> Text s odrážkami na čtvrté úrovni</a:t>
            </a:r>
          </a:p>
          <a:p>
            <a:pPr lvl="4"/>
            <a:r>
              <a:rPr lang="cs-CZ" altLang="cs-CZ"/>
              <a:t>Text s odrážkami na páté úrovni</a:t>
            </a:r>
          </a:p>
          <a:p>
            <a:pPr lvl="1"/>
            <a:endParaRPr lang="cs-CZ" altLang="cs-CZ"/>
          </a:p>
          <a:p>
            <a:pPr lvl="2"/>
            <a:endParaRPr lang="cs-CZ" altLang="cs-CZ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0F8A48C-5C91-09BA-7AAD-62821C5D5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85800"/>
            <a:ext cx="80772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 předlohy nadpisů.</a:t>
            </a:r>
          </a:p>
        </p:txBody>
      </p:sp>
      <p:sp>
        <p:nvSpPr>
          <p:cNvPr id="108548" name="Rectangle 4">
            <a:extLst>
              <a:ext uri="{FF2B5EF4-FFF2-40B4-BE49-F238E27FC236}">
                <a16:creationId xmlns:a16="http://schemas.microsoft.com/office/drawing/2014/main" id="{2F6873C3-9F91-4838-13E7-09844E5608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/>
            </a:lvl1pPr>
          </a:lstStyle>
          <a:p>
            <a:endParaRPr lang="cs-CZ" altLang="cs-CZ"/>
          </a:p>
        </p:txBody>
      </p:sp>
      <p:sp>
        <p:nvSpPr>
          <p:cNvPr id="108549" name="Rectangle 5">
            <a:extLst>
              <a:ext uri="{FF2B5EF4-FFF2-40B4-BE49-F238E27FC236}">
                <a16:creationId xmlns:a16="http://schemas.microsoft.com/office/drawing/2014/main" id="{A7F33AA0-87CC-4FD2-05F5-0187B12EAE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/>
            </a:lvl1pPr>
          </a:lstStyle>
          <a:p>
            <a:endParaRPr lang="cs-CZ" altLang="cs-CZ"/>
          </a:p>
        </p:txBody>
      </p:sp>
      <p:sp>
        <p:nvSpPr>
          <p:cNvPr id="108550" name="Rectangle 6">
            <a:extLst>
              <a:ext uri="{FF2B5EF4-FFF2-40B4-BE49-F238E27FC236}">
                <a16:creationId xmlns:a16="http://schemas.microsoft.com/office/drawing/2014/main" id="{83705FCF-4A33-706B-97B8-B3447FCD9D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/>
            </a:lvl1pPr>
          </a:lstStyle>
          <a:p>
            <a:fld id="{E916EBF4-17AB-4C51-8938-7BD35FD74649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rgbClr val="284C6A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284C6A"/>
          </a:solidFill>
          <a:latin typeface="Trebuchet MS" panose="020B0603020202020204" pitchFamily="34" charset="0"/>
        </a:defRPr>
      </a:lvl9pPr>
    </p:titleStyle>
    <p:bodyStyle>
      <a:lvl1pPr marL="342900" indent="-342900" algn="l" rtl="0" fontAlgn="base">
        <a:lnSpc>
          <a:spcPct val="125000"/>
        </a:lnSpc>
        <a:spcBef>
          <a:spcPct val="20000"/>
        </a:spcBef>
        <a:spcAft>
          <a:spcPct val="0"/>
        </a:spcAft>
        <a:buClr>
          <a:schemeClr val="bg2"/>
        </a:buClr>
        <a:buChar char="•"/>
        <a:defRPr sz="3200" kern="1200">
          <a:solidFill>
            <a:srgbClr val="284C6A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Trebuchet MS" panose="020B0603020202020204" pitchFamily="34" charset="0"/>
        <a:buChar char="−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rebuchet MS" panose="020B0603020202020204" pitchFamily="34" charset="0"/>
        <a:buChar char="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DEX1HXybrU" TargetMode="External"/><Relationship Id="rId7" Type="http://schemas.openxmlformats.org/officeDocument/2006/relationships/hyperlink" Target="https://www.virustotal.com/gui/home/upload" TargetMode="External"/><Relationship Id="rId2" Type="http://schemas.openxmlformats.org/officeDocument/2006/relationships/hyperlink" Target="https://www.eset.com/cz/viru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wned.foo/" TargetMode="External"/><Relationship Id="rId5" Type="http://schemas.openxmlformats.org/officeDocument/2006/relationships/hyperlink" Target="http://www.hoax.cz/cze/index.php?action=netiketa" TargetMode="External"/><Relationship Id="rId4" Type="http://schemas.openxmlformats.org/officeDocument/2006/relationships/hyperlink" Target="http://www.viry.cz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hyperlink" Target="http://www.stahuj.cz/utility_a_ostatni/antiviry/kompletni/norton-internet-security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hyperlink" Target="http://www.stahuj.cz/utility_a_ostatni/antiviry/kompletni/norton-internet-security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32EEC209-28FB-7BD8-9BEE-264F1ED391C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7700" y="1447800"/>
            <a:ext cx="7848600" cy="4068763"/>
          </a:xfrm>
        </p:spPr>
        <p:txBody>
          <a:bodyPr/>
          <a:lstStyle/>
          <a:p>
            <a:r>
              <a:rPr lang="cs-CZ" altLang="cs-CZ" b="1"/>
              <a:t>Spolehlivá antivirová </a:t>
            </a:r>
            <a:br>
              <a:rPr lang="cs-CZ" altLang="cs-CZ" b="1"/>
            </a:br>
            <a:r>
              <a:rPr lang="cs-CZ" altLang="cs-CZ" b="1"/>
              <a:t>a </a:t>
            </a:r>
            <a:br>
              <a:rPr lang="cs-CZ" altLang="cs-CZ" b="1"/>
            </a:br>
            <a:r>
              <a:rPr lang="cs-CZ" altLang="cs-CZ" b="1"/>
              <a:t>antispamová ochrana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56F49730-5BF6-5456-E3FD-36B131736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857250"/>
            <a:ext cx="8002587" cy="571500"/>
          </a:xfrm>
        </p:spPr>
        <p:txBody>
          <a:bodyPr/>
          <a:lstStyle/>
          <a:p>
            <a:pPr algn="ctr"/>
            <a:r>
              <a:rPr lang="cs-CZ" altLang="cs-CZ" b="1"/>
              <a:t>Antivirová ochrana</a:t>
            </a:r>
            <a:r>
              <a:rPr lang="cs-CZ" altLang="cs-CZ"/>
              <a:t> 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70866F9-882B-1667-4D35-E66378987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2208213"/>
            <a:ext cx="7267575" cy="4389437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2800"/>
              <a:t>Zavirování počítače a následné zhroucení počítačového systému je dnes nejčastější příčinou nuceného přerušení práce a ztráty dat.</a:t>
            </a:r>
          </a:p>
          <a:p>
            <a:pPr>
              <a:lnSpc>
                <a:spcPct val="105000"/>
              </a:lnSpc>
            </a:pPr>
            <a:r>
              <a:rPr lang="cs-CZ" altLang="cs-CZ" sz="2800"/>
              <a:t>Ochrana před počítačovými viry je komplexní problém, který vyžaduje nejen kvalitní antivirový program, ale především zodpovědný přístup všech uživatelů.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5F30146D-C211-51FE-55CB-0280C83927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B72003F-294B-B22A-929F-500A85AF7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2000" b="1" dirty="0"/>
              <a:t>virus</a:t>
            </a:r>
            <a:r>
              <a:rPr lang="cs-CZ" altLang="cs-CZ" sz="2000" dirty="0"/>
              <a:t> - infikuje nejčastěji existující - spustitelné soubory na pevném disku.</a:t>
            </a:r>
          </a:p>
          <a:p>
            <a:pPr lvl="1">
              <a:lnSpc>
                <a:spcPct val="105000"/>
              </a:lnSpc>
            </a:pPr>
            <a:r>
              <a:rPr lang="cs-CZ" altLang="cs-CZ" sz="1800" dirty="0"/>
              <a:t>Obtěžující, Destrukční, Ostatní</a:t>
            </a:r>
          </a:p>
          <a:p>
            <a:pPr>
              <a:lnSpc>
                <a:spcPct val="105000"/>
              </a:lnSpc>
            </a:pPr>
            <a:r>
              <a:rPr lang="cs-CZ" altLang="cs-CZ" sz="2000" b="1" dirty="0" err="1"/>
              <a:t>trojan</a:t>
            </a:r>
            <a:r>
              <a:rPr lang="cs-CZ" altLang="cs-CZ" sz="2000" dirty="0"/>
              <a:t> - obecný pojem. V minulosti se takto označovaly škodlivé programy, které se vydávaly za jiný - neškodný. </a:t>
            </a:r>
          </a:p>
          <a:p>
            <a:pPr>
              <a:lnSpc>
                <a:spcPct val="105000"/>
              </a:lnSpc>
            </a:pPr>
            <a:r>
              <a:rPr lang="cs-CZ" altLang="cs-CZ" sz="2000" b="1" dirty="0" err="1"/>
              <a:t>backdoor</a:t>
            </a:r>
            <a:r>
              <a:rPr lang="cs-CZ" altLang="cs-CZ" sz="2000" dirty="0"/>
              <a:t> - škodlivý kód, který umožňuje převzít vzdáleně (např. přes Internet) kontrolu nad takto infikovaným PC. </a:t>
            </a:r>
          </a:p>
          <a:p>
            <a:pPr>
              <a:lnSpc>
                <a:spcPct val="105000"/>
              </a:lnSpc>
            </a:pPr>
            <a:r>
              <a:rPr lang="cs-CZ" altLang="cs-CZ" sz="2000" b="1" dirty="0" err="1"/>
              <a:t>downloader</a:t>
            </a:r>
            <a:r>
              <a:rPr lang="cs-CZ" altLang="cs-CZ" sz="2000" dirty="0"/>
              <a:t> - škodlivý kód, který z Internetu stahuje další havěť.</a:t>
            </a:r>
          </a:p>
          <a:p>
            <a:pPr>
              <a:lnSpc>
                <a:spcPct val="105000"/>
              </a:lnSpc>
            </a:pPr>
            <a:r>
              <a:rPr lang="cs-CZ" altLang="cs-CZ" sz="2000" b="1" dirty="0" err="1"/>
              <a:t>worm</a:t>
            </a:r>
            <a:r>
              <a:rPr lang="cs-CZ" altLang="cs-CZ" sz="2000" b="1" dirty="0"/>
              <a:t>, červ</a:t>
            </a:r>
            <a:r>
              <a:rPr lang="cs-CZ" altLang="cs-CZ" sz="2000" dirty="0"/>
              <a:t> - každý tímto pojmem označuje něco jiné. V dnešní době se obvykle pojmem "červ" označuje havěť, která se šíří ve formě síťových paketů (jako slavný červ </a:t>
            </a:r>
            <a:r>
              <a:rPr lang="cs-CZ" altLang="cs-CZ" sz="2000" dirty="0" err="1"/>
              <a:t>Lovsan</a:t>
            </a:r>
            <a:r>
              <a:rPr lang="cs-CZ" altLang="cs-CZ" sz="2000" dirty="0"/>
              <a:t>/</a:t>
            </a:r>
            <a:r>
              <a:rPr lang="cs-CZ" altLang="cs-CZ" sz="2000" dirty="0" err="1"/>
              <a:t>Blaster</a:t>
            </a:r>
            <a:r>
              <a:rPr lang="cs-CZ" altLang="cs-CZ" sz="2000" dirty="0"/>
              <a:t>).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cs-CZ" altLang="cs-CZ" sz="2000" dirty="0"/>
              <a:t>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D2B2782E-F51C-0C75-C58A-03624F29B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1703C1B5-D549-FCE8-4B1E-05D729918D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4788" y="1634444"/>
            <a:ext cx="8467691" cy="469265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1800" b="1" dirty="0" err="1"/>
              <a:t>adware</a:t>
            </a:r>
            <a:r>
              <a:rPr lang="cs-CZ" altLang="cs-CZ" sz="1800" dirty="0"/>
              <a:t> - aplikace, která má obvykle za následek to, že vyskakují reklamní okna během práce i surfování a nervy uživatele tak dostávají na frak. </a:t>
            </a:r>
          </a:p>
          <a:p>
            <a:pPr>
              <a:lnSpc>
                <a:spcPct val="105000"/>
              </a:lnSpc>
            </a:pPr>
            <a:r>
              <a:rPr lang="cs-CZ" altLang="cs-CZ" sz="1800" b="1" dirty="0" err="1"/>
              <a:t>scareware</a:t>
            </a:r>
            <a:r>
              <a:rPr lang="cs-CZ" altLang="cs-CZ" sz="1800" dirty="0"/>
              <a:t> - používá taktiky sociálního inženýrství k manipulaci uživatelů a k jejich oklamání, aby si stáhli software infikovaný malwarem. Tento software je maskovaný jako legitimní a důvěryhodný.</a:t>
            </a:r>
          </a:p>
          <a:p>
            <a:pPr>
              <a:lnSpc>
                <a:spcPct val="105000"/>
              </a:lnSpc>
            </a:pPr>
            <a:r>
              <a:rPr lang="cs-CZ" altLang="cs-CZ" sz="1800" dirty="0" err="1"/>
              <a:t>Scareware</a:t>
            </a:r>
            <a:r>
              <a:rPr lang="cs-CZ" altLang="cs-CZ" sz="1800" dirty="0"/>
              <a:t> tedy ohrožuje uživatele tím, že jim nabízí falešné antivirové systémy, aby získal přístup k citlivým firemním informacím.</a:t>
            </a:r>
            <a:endParaRPr lang="cs-CZ" altLang="cs-CZ" sz="1800" b="1" dirty="0"/>
          </a:p>
          <a:p>
            <a:pPr>
              <a:lnSpc>
                <a:spcPct val="105000"/>
              </a:lnSpc>
            </a:pPr>
            <a:r>
              <a:rPr lang="cs-CZ" altLang="cs-CZ" sz="1800" b="1" dirty="0"/>
              <a:t>spyware</a:t>
            </a:r>
            <a:r>
              <a:rPr lang="cs-CZ" altLang="cs-CZ" sz="1800" dirty="0"/>
              <a:t> - špionážní software. Může odcizovat data z PC uživatele. Většinou se na něj váže další havěť. </a:t>
            </a:r>
          </a:p>
          <a:p>
            <a:pPr>
              <a:lnSpc>
                <a:spcPct val="105000"/>
              </a:lnSpc>
            </a:pPr>
            <a:r>
              <a:rPr lang="cs-CZ" altLang="cs-CZ" sz="1800" b="1" dirty="0"/>
              <a:t>dialer</a:t>
            </a:r>
            <a:r>
              <a:rPr lang="cs-CZ" altLang="cs-CZ" sz="1800" dirty="0"/>
              <a:t> - aplikace, která se postará o to, že připojení k Internetu se v případě vytáčeného </a:t>
            </a:r>
            <a:r>
              <a:rPr lang="cs-CZ" altLang="cs-CZ" sz="1800" dirty="0" err="1"/>
              <a:t>dial</a:t>
            </a:r>
            <a:r>
              <a:rPr lang="cs-CZ" altLang="cs-CZ" sz="1800" dirty="0"/>
              <a:t>-up připojení několikanásobně prodraží. Je to dáno tím, že modem se připojuje přes tzv. "žluté linky", které jsou telefonními operátory draze účtovány (např. 60 Kč / 1 minuta), popř. jde o čísla, patřící někomu na druhé straně zeměkoule. Známe z televize - kauza Český Telecom vs nadávající zákazníci ("z ničeho nic mi od ČT přišla faktura na 30 tisíc Kč").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62982CCD-2A1D-2BA2-156B-14AF110A4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BA33C6BA-5FC8-C656-234D-866BF1827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zh-CN" b="1"/>
              <a:t>Počítačový virus</a:t>
            </a:r>
            <a:r>
              <a:rPr lang="cs-CZ" altLang="zh-CN"/>
              <a:t> je program, který se tajně vetře do vašeho počítače, odkud se dále nepozorovaně šírí</a:t>
            </a:r>
          </a:p>
          <a:p>
            <a:r>
              <a:rPr lang="cs-CZ" altLang="zh-CN"/>
              <a:t>Virus obvykle v předem naplánový čas provede nějakou záškodnou činnost - smaže soubory, poškodí disk počítače, zaútočí po síti na nějaký server a pod. </a:t>
            </a:r>
            <a:endParaRPr lang="cs-CZ" altLang="cs-CZ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DA6B5032-219E-D98E-BB20-AE6E14173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Jak se viry šíří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86169425-B13A-6CFD-98EE-1B3268C6E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</a:pPr>
            <a:r>
              <a:rPr lang="cs-CZ" altLang="cs-CZ" sz="2400">
                <a:solidFill>
                  <a:srgbClr val="FF0000"/>
                </a:solidFill>
              </a:rPr>
              <a:t>Spustitelné soubory</a:t>
            </a:r>
            <a:r>
              <a:rPr lang="cs-CZ" altLang="cs-CZ" sz="2400"/>
              <a:t> – vir se při spuštění nahraje do paměti a po té se šíří a ničí(-.EXE, .COM, .BAT, .SYS)</a:t>
            </a:r>
          </a:p>
          <a:p>
            <a:pPr>
              <a:lnSpc>
                <a:spcPct val="115000"/>
              </a:lnSpc>
            </a:pPr>
            <a:r>
              <a:rPr lang="cs-CZ" altLang="cs-CZ" sz="2400">
                <a:solidFill>
                  <a:srgbClr val="FF0000"/>
                </a:solidFill>
              </a:rPr>
              <a:t>Dokumenty</a:t>
            </a:r>
            <a:r>
              <a:rPr lang="cs-CZ" altLang="cs-CZ" sz="2400"/>
              <a:t> – vir je uložen přímo v dokumentu jako makrovir</a:t>
            </a:r>
          </a:p>
          <a:p>
            <a:pPr>
              <a:lnSpc>
                <a:spcPct val="115000"/>
              </a:lnSpc>
            </a:pPr>
            <a:r>
              <a:rPr lang="cs-CZ" altLang="cs-CZ" sz="2400">
                <a:solidFill>
                  <a:srgbClr val="FF0000"/>
                </a:solidFill>
              </a:rPr>
              <a:t>Elektronická pošta(e-mail)</a:t>
            </a:r>
            <a:r>
              <a:rPr lang="cs-CZ" altLang="cs-CZ" sz="2400"/>
              <a:t> – samospustitelná příloha e-mailu</a:t>
            </a:r>
          </a:p>
          <a:p>
            <a:pPr>
              <a:lnSpc>
                <a:spcPct val="115000"/>
              </a:lnSpc>
            </a:pPr>
            <a:r>
              <a:rPr lang="cs-CZ" altLang="cs-CZ" sz="2400">
                <a:solidFill>
                  <a:srgbClr val="FF0000"/>
                </a:solidFill>
              </a:rPr>
              <a:t>Systémové oblasti</a:t>
            </a:r>
            <a:r>
              <a:rPr lang="cs-CZ" altLang="cs-CZ" sz="2400"/>
              <a:t> – cílem virů - BOOT sektor nebo PARTITION tabulka, kam nemá uživatel přístup a slouží pouze systému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5BD76B1F-6E2F-EFF5-597D-840A4587FA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Typy virů - SOUBOROVÉ VIRY</a:t>
            </a: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C52BEA75-5154-E99B-D8A8-1AA637AE5EB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457200" lvl="1" indent="0"/>
            <a:r>
              <a:rPr lang="cs-CZ" altLang="cs-CZ" sz="2400"/>
              <a:t>Přepisující viry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Link viry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Doprovodné viry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Viry přímé akce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Rezidentní viry</a:t>
            </a:r>
          </a:p>
        </p:txBody>
      </p:sp>
      <p:sp>
        <p:nvSpPr>
          <p:cNvPr id="301060" name="Rectangle 4">
            <a:extLst>
              <a:ext uri="{FF2B5EF4-FFF2-40B4-BE49-F238E27FC236}">
                <a16:creationId xmlns:a16="http://schemas.microsoft.com/office/drawing/2014/main" id="{35501352-2908-3F18-926B-4A20CF120D2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marL="457200" lvl="1" indent="0"/>
            <a:r>
              <a:rPr lang="cs-CZ" altLang="cs-CZ" sz="2400"/>
              <a:t>Stealth viry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Zakódovaný viry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Polymorfní viry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Fast infector</a:t>
            </a:r>
          </a:p>
          <a:p>
            <a:pPr marL="457200" lvl="1" indent="0">
              <a:buFont typeface="Trebuchet MS" panose="020B0603020202020204" pitchFamily="34" charset="0"/>
              <a:buNone/>
            </a:pPr>
            <a:endParaRPr lang="cs-CZ" altLang="cs-CZ" sz="2400"/>
          </a:p>
          <a:p>
            <a:pPr marL="457200" lvl="1" indent="0"/>
            <a:r>
              <a:rPr lang="cs-CZ" altLang="cs-CZ" sz="2400"/>
              <a:t>Slow infector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4B95CE0C-2500-CC24-1EA0-B59E63A05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Typy virů - BOOTVIRY</a:t>
            </a:r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22240E93-D9BF-D141-DCDC-5AC27CDA4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Vir napadne BOOT sektor nebo PARTITION tabulku na pevném disku nebo výměnném médiu</a:t>
            </a:r>
          </a:p>
          <a:p>
            <a:r>
              <a:rPr lang="cs-CZ" altLang="cs-CZ"/>
              <a:t>Aktivuje se při zavádění systému -BOOTOVÁNÍ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546DF9E9-78BC-D33F-8201-9EB52A960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Typy virů - MULTIPARTITNÍ</a:t>
            </a:r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07A572D5-67F6-2384-00FD-1ECB30813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Kombinace vlastností</a:t>
            </a:r>
            <a:br>
              <a:rPr lang="cs-CZ" altLang="cs-CZ"/>
            </a:br>
            <a:r>
              <a:rPr lang="cs-CZ" altLang="cs-CZ"/>
              <a:t>		souborového a boot viru</a:t>
            </a:r>
          </a:p>
          <a:p>
            <a:pPr>
              <a:buFontTx/>
              <a:buNone/>
            </a:pPr>
            <a:endParaRPr lang="cs-CZ" altLang="cs-CZ"/>
          </a:p>
          <a:p>
            <a:r>
              <a:rPr lang="cs-CZ" altLang="cs-CZ"/>
              <a:t>Napadají PARTITION tabulku i soubory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06AB535D-F6F3-C7DC-D318-CE0D5B90A2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Typy virů - MAKROVIRY</a:t>
            </a:r>
          </a:p>
        </p:txBody>
      </p:sp>
      <p:sp>
        <p:nvSpPr>
          <p:cNvPr id="305155" name="Rectangle 3">
            <a:extLst>
              <a:ext uri="{FF2B5EF4-FFF2-40B4-BE49-F238E27FC236}">
                <a16:creationId xmlns:a16="http://schemas.microsoft.com/office/drawing/2014/main" id="{3C9BD1AF-8ED5-A168-E1D8-2FFE9EC1E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altLang="cs-CZ"/>
              <a:t>Vir je přenášen a uložen v dokumentu</a:t>
            </a:r>
          </a:p>
          <a:p>
            <a:r>
              <a:rPr lang="cs-CZ" altLang="cs-CZ"/>
              <a:t>Vir ovládne makro i šablony</a:t>
            </a:r>
          </a:p>
          <a:p>
            <a:r>
              <a:rPr lang="cs-CZ" altLang="cs-CZ"/>
              <a:t>Aktivuje se nějakou činností se souborem</a:t>
            </a:r>
          </a:p>
          <a:p>
            <a:endParaRPr lang="cs-CZ" altLang="cs-CZ"/>
          </a:p>
          <a:p>
            <a:r>
              <a:rPr lang="cs-CZ" altLang="cs-CZ"/>
              <a:t>Projevují se destrukční činností</a:t>
            </a:r>
          </a:p>
          <a:p>
            <a:pPr lvl="1"/>
            <a:r>
              <a:rPr lang="cs-CZ" altLang="cs-CZ"/>
              <a:t>Vymazání souboru/ů, …..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6AAF498C-A05C-0856-1982-8B983307A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A40CAE54-CE34-4166-3F0C-0F9DF6261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953000"/>
          </a:xfrm>
        </p:spPr>
        <p:txBody>
          <a:bodyPr/>
          <a:lstStyle/>
          <a:p>
            <a:pPr marL="457200" indent="-4572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altLang="cs-CZ" sz="2400" b="1"/>
              <a:t>Poštovní červ</a:t>
            </a:r>
            <a:r>
              <a:rPr lang="cs-CZ" altLang="cs-CZ" sz="2400"/>
              <a:t> je program, který sám sebe šíří jako přílohu elektronické pošty.</a:t>
            </a:r>
          </a:p>
          <a:p>
            <a:pPr marL="457200" indent="-4572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altLang="cs-CZ" sz="2400"/>
              <a:t>Poštovní červ má obvykle charakteristické prvky viru, a proto bývá běžně za virus považován.</a:t>
            </a:r>
          </a:p>
          <a:p>
            <a:pPr marL="457200" indent="-4572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altLang="cs-CZ" sz="2400"/>
              <a:t>Poštovní červ/virus se obvykle maskuje za falešné jméno odesílatele a nějaký atraktivní předmět zprávy.</a:t>
            </a:r>
          </a:p>
          <a:p>
            <a:pPr marL="457200" indent="-4572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cs-CZ" altLang="cs-CZ" sz="1800"/>
              <a:t>Dostanete-li například zprávu od odesílatele jana@centrum.cz, pak to ještě neznamená, že ji psala skutečně Jana a zasílá vám dokument, "jak jste se domlouvali".</a:t>
            </a:r>
            <a:r>
              <a:rPr lang="cs-CZ" altLang="cs-CZ" sz="2400"/>
              <a:t>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DFCF77FF-ABA9-3674-2D6D-381A33683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C7EE4786-2645-ADE1-A392-25C384993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"/>
            </a:pPr>
            <a:r>
              <a:rPr lang="cs-CZ" altLang="cs-CZ" sz="2800" b="1"/>
              <a:t>Spyware</a:t>
            </a:r>
            <a:r>
              <a:rPr lang="cs-CZ" altLang="cs-CZ" sz="2800"/>
              <a:t> je škodlivý kód, který sleduje váš počítač, nebo nad ním přebírá častečnou kontrolu bez vašeho vědomí a ku prospěchu třetí strany (například zobrazuje nechtěné reklamy).</a:t>
            </a:r>
            <a:r>
              <a:rPr lang="cs-CZ" altLang="cs-CZ"/>
              <a:t>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25C84B64-DC9A-4050-8B2B-C948C2250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0AE5FA0B-F09E-1BD2-64D6-D2AB9AA8CE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76750"/>
          </a:xfrm>
        </p:spPr>
        <p:txBody>
          <a:bodyPr/>
          <a:lstStyle/>
          <a:p>
            <a:pPr>
              <a:buFont typeface="Symbol" panose="05050102010706020507" pitchFamily="18" charset="2"/>
              <a:buChar char=""/>
            </a:pPr>
            <a:r>
              <a:rPr lang="cs-CZ" altLang="cs-CZ" sz="2800" b="1"/>
              <a:t>Spam</a:t>
            </a:r>
            <a:r>
              <a:rPr lang="cs-CZ" altLang="cs-CZ" sz="2800"/>
              <a:t> je termín pro nevyžádanou elektronickou poštu obvykle reklamního charakteru.</a:t>
            </a:r>
          </a:p>
          <a:p>
            <a:pPr>
              <a:buFont typeface="Symbol" panose="05050102010706020507" pitchFamily="18" charset="2"/>
              <a:buChar char=""/>
            </a:pPr>
            <a:r>
              <a:rPr lang="cs-CZ" altLang="cs-CZ" sz="2800"/>
              <a:t>Sám o sobě není nebezpečný, ale zatěžuje komunikační linky a další výpočetní zdroje. Třídění a mazání spamu zabírá uživatelům cenný čas. Odborníci odhadují, že spam tvoří 40 až 60 % veškeré e-mailové komunikace.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4EF6B44A-D38E-5CFB-1E78-4D8D06427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/>
              <a:t>Vysvětlení základních pojmů</a:t>
            </a:r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120BC7E1-309C-8FE1-ADB1-2CCF631864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905000"/>
            <a:ext cx="7994650" cy="4403725"/>
          </a:xfrm>
        </p:spPr>
        <p:txBody>
          <a:bodyPr/>
          <a:lstStyle/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cs-CZ" altLang="cs-CZ" sz="2800" b="1"/>
              <a:t>Hoax</a:t>
            </a:r>
            <a:r>
              <a:rPr lang="cs-CZ" altLang="cs-CZ" sz="2800"/>
              <a:t> –nejčastěji označujeme poplašnou zprávu, která varuje před neexistujícím nebezpečným virem.</a:t>
            </a:r>
          </a:p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endParaRPr lang="cs-CZ" altLang="cs-CZ" sz="2000"/>
          </a:p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cs-CZ" altLang="cs-CZ" sz="1400" u="sng"/>
              <a:t>Anglické slovo HOAX [:houks:] v překladu znamená </a:t>
            </a:r>
            <a:br>
              <a:rPr lang="cs-CZ" altLang="cs-CZ" sz="1400"/>
            </a:br>
            <a:r>
              <a:rPr lang="cs-CZ" altLang="cs-CZ" sz="1400" b="1"/>
              <a:t>F</a:t>
            </a:r>
            <a:r>
              <a:rPr lang="cs-CZ" altLang="cs-CZ" sz="1400"/>
              <a:t>alešnou zprávu </a:t>
            </a:r>
            <a:br>
              <a:rPr lang="cs-CZ" altLang="cs-CZ" sz="1400"/>
            </a:br>
            <a:r>
              <a:rPr lang="cs-CZ" altLang="cs-CZ" sz="1400" b="1"/>
              <a:t>M</a:t>
            </a:r>
            <a:r>
              <a:rPr lang="cs-CZ" altLang="cs-CZ" sz="1400"/>
              <a:t>ystifikaci </a:t>
            </a:r>
            <a:br>
              <a:rPr lang="cs-CZ" altLang="cs-CZ" sz="1400"/>
            </a:br>
            <a:r>
              <a:rPr lang="cs-CZ" altLang="cs-CZ" sz="1400" b="1"/>
              <a:t>N</a:t>
            </a:r>
            <a:r>
              <a:rPr lang="cs-CZ" altLang="cs-CZ" sz="1400"/>
              <a:t>ovinářskou kachnu </a:t>
            </a:r>
            <a:br>
              <a:rPr lang="cs-CZ" altLang="cs-CZ" sz="1400"/>
            </a:br>
            <a:r>
              <a:rPr lang="cs-CZ" altLang="cs-CZ" sz="1400" b="1"/>
              <a:t>P</a:t>
            </a:r>
            <a:r>
              <a:rPr lang="cs-CZ" altLang="cs-CZ" sz="1400"/>
              <a:t>odvod </a:t>
            </a:r>
            <a:br>
              <a:rPr lang="cs-CZ" altLang="cs-CZ" sz="1400"/>
            </a:br>
            <a:r>
              <a:rPr lang="cs-CZ" altLang="cs-CZ" sz="1400" b="1"/>
              <a:t>P</a:t>
            </a:r>
            <a:r>
              <a:rPr lang="cs-CZ" altLang="cs-CZ" sz="1400"/>
              <a:t>oplašnou zprávu </a:t>
            </a:r>
            <a:br>
              <a:rPr lang="cs-CZ" altLang="cs-CZ" sz="1400"/>
            </a:br>
            <a:r>
              <a:rPr lang="cs-CZ" altLang="cs-CZ" sz="1400" b="1"/>
              <a:t>S</a:t>
            </a:r>
            <a:r>
              <a:rPr lang="cs-CZ" altLang="cs-CZ" sz="1400"/>
              <a:t>myšlenku </a:t>
            </a:r>
            <a:br>
              <a:rPr lang="cs-CZ" altLang="cs-CZ" sz="1400"/>
            </a:br>
            <a:r>
              <a:rPr lang="cs-CZ" altLang="cs-CZ" sz="1400" b="1"/>
              <a:t>V</a:t>
            </a:r>
            <a:r>
              <a:rPr lang="cs-CZ" altLang="cs-CZ" sz="1400"/>
              <a:t>ýmysl </a:t>
            </a:r>
            <a:br>
              <a:rPr lang="cs-CZ" altLang="cs-CZ" sz="1400"/>
            </a:br>
            <a:r>
              <a:rPr lang="cs-CZ" altLang="cs-CZ" sz="1400" b="1"/>
              <a:t>Ž</a:t>
            </a:r>
            <a:r>
              <a:rPr lang="cs-CZ" altLang="cs-CZ" sz="1400"/>
              <a:t>ert, kanadský žertík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6252A184-3C54-0CD4-11CB-45C0495AD1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Jak HOAX poznáme 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C6BB5225-C4BF-6889-DD22-E5284D537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905000"/>
            <a:ext cx="7994650" cy="4619625"/>
          </a:xfrm>
        </p:spPr>
        <p:txBody>
          <a:bodyPr/>
          <a:lstStyle/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cs-CZ" altLang="cs-CZ" sz="2800"/>
              <a:t>Text poplašné zprávy obsahuje většinou tyto body:</a:t>
            </a:r>
            <a:r>
              <a:rPr lang="cs-CZ" altLang="cs-CZ" sz="1400"/>
              <a:t> </a:t>
            </a:r>
            <a:br>
              <a:rPr lang="cs-CZ" altLang="cs-CZ" sz="1400"/>
            </a:br>
            <a:endParaRPr lang="cs-CZ" altLang="cs-CZ" sz="1400"/>
          </a:p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cs-CZ" altLang="cs-CZ" sz="1800" b="1"/>
              <a:t>P</a:t>
            </a:r>
            <a:r>
              <a:rPr lang="cs-CZ" altLang="cs-CZ" sz="1800"/>
              <a:t>opis nebezpečí (viru)</a:t>
            </a:r>
            <a:r>
              <a:rPr lang="cs-CZ" altLang="cs-CZ" sz="1600"/>
              <a:t> </a:t>
            </a:r>
            <a:br>
              <a:rPr lang="cs-CZ" altLang="cs-CZ" sz="1600"/>
            </a:br>
            <a:r>
              <a:rPr lang="cs-CZ" altLang="cs-CZ" sz="1400"/>
              <a:t>Smyšlené nebezpečí (vir) bývá stručně popsané, v případě viru bývá uváděný i způsob šíření. </a:t>
            </a:r>
            <a:br>
              <a:rPr lang="cs-CZ" altLang="cs-CZ" sz="1400"/>
            </a:br>
            <a:br>
              <a:rPr lang="cs-CZ" altLang="cs-CZ" sz="1400"/>
            </a:br>
            <a:r>
              <a:rPr lang="cs-CZ" altLang="cs-CZ" sz="1800" b="1"/>
              <a:t>N</a:t>
            </a:r>
            <a:r>
              <a:rPr lang="cs-CZ" altLang="cs-CZ" sz="1800"/>
              <a:t>ičivé účinky viru </a:t>
            </a:r>
            <a:br>
              <a:rPr lang="cs-CZ" altLang="cs-CZ" sz="1800"/>
            </a:br>
            <a:r>
              <a:rPr lang="cs-CZ" altLang="cs-CZ" sz="1400"/>
              <a:t>Zde záleží převážně na autorově fantazii. Ničivé účinky mohou být celkem obyčejné, třeba zformátování disku nebo už míň důvěryhodné - zběsilý útěk myši do ledničky, roztočení HDD opačným směrem, výbuch počítače... Autoři hororů zde mohou hledat inspiraci. </a:t>
            </a:r>
            <a:br>
              <a:rPr lang="cs-CZ" altLang="cs-CZ" sz="1400"/>
            </a:br>
            <a:br>
              <a:rPr lang="cs-CZ" altLang="cs-CZ" sz="1400"/>
            </a:br>
            <a:r>
              <a:rPr lang="cs-CZ" altLang="cs-CZ" sz="1800" b="1"/>
              <a:t>D</a:t>
            </a:r>
            <a:r>
              <a:rPr lang="cs-CZ" altLang="cs-CZ" sz="1800"/>
              <a:t>ůvěryhodné zdroje varují</a:t>
            </a:r>
            <a:r>
              <a:rPr lang="cs-CZ" altLang="cs-CZ" sz="1400"/>
              <a:t> </a:t>
            </a:r>
            <a:br>
              <a:rPr lang="cs-CZ" altLang="cs-CZ" sz="1400"/>
            </a:br>
            <a:r>
              <a:rPr lang="cs-CZ" altLang="cs-CZ" sz="1400"/>
              <a:t>Ve většině případů se pisatel poplašné zprávy snaží přesvědčit, že varování přišlo od důvěryhodných zdrojů ("IBM a FBI varují" nebo "Microsoft upozorňuje" atd...) 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99A63693-AF93-A794-D499-E76716B0B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/>
              <a:t>Jak HOAX poznáme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FA447FFB-6381-D0DB-7AFD-9B68647E8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cs-CZ" altLang="cs-CZ" sz="2000" b="1"/>
              <a:t>V</a:t>
            </a:r>
            <a:r>
              <a:rPr lang="cs-CZ" altLang="cs-CZ" sz="2000"/>
              <a:t>ÝZVA k dalšímu rozeslání</a:t>
            </a:r>
          </a:p>
          <a:p>
            <a:pPr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cs-CZ" altLang="cs-CZ" sz="1600"/>
              <a:t>Tento bod HOAX vždy obsahuje! Mnoho nezkušených uživatelů se nechá zprávou napálit a bez přemýšlení výzvu uposlechnou. Díky tomu se tyto nesmysly lavinovitě šíří. </a:t>
            </a:r>
            <a:br>
              <a:rPr lang="cs-CZ" altLang="cs-CZ" sz="1600"/>
            </a:br>
            <a:br>
              <a:rPr lang="cs-CZ" altLang="cs-CZ" sz="1600"/>
            </a:br>
            <a:r>
              <a:rPr lang="cs-CZ" altLang="cs-CZ" sz="1600"/>
              <a:t>V praxi můžeme použít následující pravidlo: </a:t>
            </a:r>
            <a:br>
              <a:rPr lang="cs-CZ" altLang="cs-CZ" sz="1600"/>
            </a:br>
            <a:r>
              <a:rPr lang="cs-CZ" altLang="cs-CZ" sz="1600"/>
              <a:t>Jestliže zpráva obsahuje výzvu k hromadnému rozeslání na další adresy, je to s největší pravděpodobností HOAX. </a:t>
            </a:r>
            <a:br>
              <a:rPr lang="cs-CZ" altLang="cs-CZ" sz="1600"/>
            </a:br>
            <a:br>
              <a:rPr lang="cs-CZ" altLang="cs-CZ" sz="1600"/>
            </a:br>
            <a:r>
              <a:rPr lang="cs-CZ" altLang="cs-CZ" sz="1600"/>
              <a:t>Pokud podobnou zprávu obdržíte a nemáte jistotu, můžete si prohlédnout některý ze seznamů HOAXů a určitě tam obdobu doručené zprávy najdete. Také pravděpodobnost, že byste stopnutím podezřelého e-mailu někomu uškodili je minimální. </a:t>
            </a:r>
            <a:br>
              <a:rPr lang="cs-CZ" altLang="cs-CZ" sz="1600"/>
            </a:br>
            <a:br>
              <a:rPr lang="cs-CZ" altLang="cs-CZ" sz="1600"/>
            </a:br>
            <a:r>
              <a:rPr lang="cs-CZ" altLang="cs-CZ" sz="1600"/>
              <a:t>Šířením hoaxů a jiných řetězových e-mailů, se uživatel proviňuje proti pravidlům Netikety - pravidel chování na Internetu. 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EA2F2A44-F111-F423-C80D-E881406BE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Odkazy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D11E9179-0F75-64B1-8CFC-56BF6F523D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5069160"/>
          </a:xfrm>
        </p:spPr>
        <p:txBody>
          <a:bodyPr/>
          <a:lstStyle/>
          <a:p>
            <a:pPr>
              <a:buFont typeface="Symbol" panose="05050102010706020507" pitchFamily="18" charset="2"/>
              <a:buChar char=""/>
            </a:pP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ESET: Druhy virů</a:t>
            </a:r>
            <a:endParaRPr lang="cs-CZ" altLang="cs-CZ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 typeface="Symbol" panose="05050102010706020507" pitchFamily="18" charset="2"/>
              <a:buChar char=""/>
            </a:pP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Firewall</a:t>
            </a:r>
            <a:endParaRPr lang="cs-CZ" altLang="cs-CZ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 typeface="Symbol" panose="05050102010706020507" pitchFamily="18" charset="2"/>
              <a:buChar char=""/>
            </a:pP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Viry</a:t>
            </a:r>
          </a:p>
          <a:p>
            <a:pPr>
              <a:buFont typeface="Symbol" panose="05050102010706020507" pitchFamily="18" charset="2"/>
              <a:buChar char=""/>
            </a:pP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Spyware</a:t>
            </a:r>
          </a:p>
          <a:p>
            <a:pPr>
              <a:buFont typeface="Symbol" panose="05050102010706020507" pitchFamily="18" charset="2"/>
              <a:buChar char=""/>
            </a:pPr>
            <a:r>
              <a:rPr lang="cs-CZ" altLang="cs-CZ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Netiketa</a:t>
            </a: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-pravidla chování na Internetu</a:t>
            </a:r>
            <a:endParaRPr lang="cs-CZ" altLang="cs-CZ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>
              <a:buFont typeface="Symbol" panose="05050102010706020507" pitchFamily="18" charset="2"/>
              <a:buChar char=""/>
            </a:pP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Úniky hesel a e-mailů</a:t>
            </a:r>
            <a:b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VirusTotal</a:t>
            </a:r>
            <a:r>
              <a:rPr lang="cs-CZ" altLang="cs-CZ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5032-09D1-59D4-D930-5E005C33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1F53630B-32C6-97C8-F6D7-D037AD6F6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CE33DB31-C34A-4EFE-DD44-467A76A7A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808"/>
            <a:ext cx="8077200" cy="2385417"/>
          </a:xfrm>
        </p:spPr>
        <p:txBody>
          <a:bodyPr/>
          <a:lstStyle/>
          <a:p>
            <a:r>
              <a:rPr lang="cs-CZ" sz="2400" b="1" dirty="0"/>
              <a:t>1. První PC virus</a:t>
            </a:r>
          </a:p>
          <a:p>
            <a:r>
              <a:rPr lang="cs-CZ" sz="2400" b="1" dirty="0" err="1"/>
              <a:t>Creeper</a:t>
            </a:r>
            <a:r>
              <a:rPr lang="cs-CZ" sz="2400" b="1" dirty="0"/>
              <a:t> (1971)</a:t>
            </a:r>
            <a:r>
              <a:rPr lang="cs-CZ" sz="2400" dirty="0"/>
              <a:t> – považován za první počítačový virus, vytvořen na počítačích DEC PDP-10. Nebyl škodlivý, jen zobrazoval hlášku</a:t>
            </a: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02752AD0-E00A-AA57-3746-03E3C644D1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68" b="31057"/>
          <a:stretch>
            <a:fillRect/>
          </a:stretch>
        </p:blipFill>
        <p:spPr>
          <a:xfrm>
            <a:off x="0" y="3717032"/>
            <a:ext cx="9144000" cy="327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2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7683-998F-AFDC-2AA6-4B7720A3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E8958791-DCD6-D460-8751-CC2707A6F1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F9158363-4F24-7192-F724-22AC23430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00808"/>
            <a:ext cx="8077200" cy="2385417"/>
          </a:xfrm>
        </p:spPr>
        <p:txBody>
          <a:bodyPr/>
          <a:lstStyle/>
          <a:p>
            <a:r>
              <a:rPr lang="cs-CZ" sz="2400" b="1" dirty="0"/>
              <a:t>1. První PC virus</a:t>
            </a:r>
          </a:p>
          <a:p>
            <a:r>
              <a:rPr lang="cs-CZ" sz="2400" b="1" dirty="0" err="1"/>
              <a:t>Creeper</a:t>
            </a:r>
            <a:r>
              <a:rPr lang="cs-CZ" sz="2400" b="1" dirty="0"/>
              <a:t> (1971)</a:t>
            </a:r>
            <a:r>
              <a:rPr lang="cs-CZ" sz="2400" dirty="0"/>
              <a:t> – považován za první počítačový virus, vytvořen na počítačích DEC PDP-10. Nebyl škodlivý, jen zobrazoval hlášku "</a:t>
            </a:r>
            <a:r>
              <a:rPr lang="cs-CZ" sz="2400" dirty="0" err="1"/>
              <a:t>I’m</a:t>
            </a:r>
            <a:r>
              <a:rPr lang="cs-CZ" sz="2400" dirty="0"/>
              <a:t> </a:t>
            </a:r>
            <a:r>
              <a:rPr lang="cs-CZ" sz="2400" dirty="0" err="1"/>
              <a:t>the</a:t>
            </a:r>
            <a:r>
              <a:rPr lang="cs-CZ" sz="2400" dirty="0"/>
              <a:t> </a:t>
            </a:r>
            <a:r>
              <a:rPr lang="cs-CZ" sz="2400" dirty="0" err="1"/>
              <a:t>creeper</a:t>
            </a:r>
            <a:r>
              <a:rPr lang="cs-CZ" sz="2400" dirty="0"/>
              <a:t>, </a:t>
            </a:r>
            <a:r>
              <a:rPr lang="cs-CZ" sz="2400" dirty="0" err="1"/>
              <a:t>catch</a:t>
            </a:r>
            <a:r>
              <a:rPr lang="cs-CZ" sz="2400" dirty="0"/>
              <a:t> </a:t>
            </a:r>
            <a:r>
              <a:rPr lang="cs-CZ" sz="2400" dirty="0" err="1"/>
              <a:t>me</a:t>
            </a:r>
            <a:r>
              <a:rPr lang="cs-CZ" sz="2400" dirty="0"/>
              <a:t> </a:t>
            </a:r>
            <a:r>
              <a:rPr lang="cs-CZ" sz="2400" dirty="0" err="1"/>
              <a:t>if</a:t>
            </a:r>
            <a:r>
              <a:rPr lang="cs-CZ" sz="2400" dirty="0"/>
              <a:t> </a:t>
            </a:r>
            <a:r>
              <a:rPr lang="cs-CZ" sz="2400" dirty="0" err="1"/>
              <a:t>you</a:t>
            </a:r>
            <a:r>
              <a:rPr lang="cs-CZ" sz="2400" dirty="0"/>
              <a:t> </a:t>
            </a:r>
            <a:r>
              <a:rPr lang="cs-CZ" sz="2400" dirty="0" err="1"/>
              <a:t>can</a:t>
            </a:r>
            <a:r>
              <a:rPr lang="cs-CZ" sz="2400" dirty="0"/>
              <a:t>!".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6C44FA-BC8B-3A1F-BFF3-B4711BAE2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72583"/>
            <a:ext cx="8077200" cy="2385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3200" kern="1200">
                <a:solidFill>
                  <a:srgbClr val="284C6A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Trebuchet MS" panose="020B0603020202020204" pitchFamily="34" charset="0"/>
              <a:buChar char="−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rebuchet MS" panose="020B0603020202020204" pitchFamily="34" charset="0"/>
              <a:buChar char="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b="1" dirty="0"/>
              <a:t>Brain (1986)</a:t>
            </a:r>
            <a:r>
              <a:rPr lang="cs-CZ" sz="2400" dirty="0"/>
              <a:t> – první skutečný virus pro osobní počítače IBM PC. Infikoval </a:t>
            </a:r>
            <a:r>
              <a:rPr lang="cs-CZ" sz="2400" dirty="0" err="1"/>
              <a:t>boot</a:t>
            </a:r>
            <a:r>
              <a:rPr lang="cs-CZ" sz="2400" dirty="0"/>
              <a:t> sektor disket. Pocházel z Pákistánu a šířil se mezi uživateli MS-DOS.</a:t>
            </a:r>
          </a:p>
          <a:p>
            <a:endParaRPr lang="cs-CZ" sz="2400" dirty="0"/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85982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A1A8-C624-89B7-0702-B6115B4B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BF870FC8-DB0C-2D78-C1E8-1F14B85D7E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021FAA7E-1F34-915B-580E-E698C462DE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2. </a:t>
            </a:r>
            <a:r>
              <a:rPr lang="cs-CZ" sz="2400" b="1" dirty="0" err="1"/>
              <a:t>Worm</a:t>
            </a:r>
            <a:r>
              <a:rPr lang="cs-CZ" sz="2400" b="1" dirty="0"/>
              <a:t> (červ)</a:t>
            </a:r>
          </a:p>
          <a:p>
            <a:r>
              <a:rPr lang="cs-CZ" sz="2400" b="1" dirty="0"/>
              <a:t>Morris </a:t>
            </a:r>
            <a:r>
              <a:rPr lang="cs-CZ" sz="2400" b="1" dirty="0" err="1"/>
              <a:t>Worm</a:t>
            </a:r>
            <a:r>
              <a:rPr lang="cs-CZ" sz="2400" b="1" dirty="0"/>
              <a:t> (1988)</a:t>
            </a:r>
            <a:r>
              <a:rPr lang="cs-CZ" sz="2400" dirty="0"/>
              <a:t> – první velký internetový červ, který se rozšířil přes síť ARPANET (předchůdce internetu). Způsobil pád tisíců počítačů a odhadované škody přes 10 milionů dolarů.</a:t>
            </a:r>
          </a:p>
          <a:p>
            <a:r>
              <a:rPr lang="cs-CZ" sz="2400" dirty="0"/>
              <a:t>Červi se od virů liší tím, že se šíří sami po síti, bez nutnosti připojení k souboru.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582785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63A7-7B08-65E7-CB39-BCED4E2C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7F7759F5-D7BF-B82A-2F46-41750502B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5D2DFC1C-2A16-8986-1711-5E173C3F5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3. Trojan (trojský kůň)</a:t>
            </a:r>
          </a:p>
          <a:p>
            <a:r>
              <a:rPr lang="cs-CZ" sz="2400" dirty="0"/>
              <a:t>První </a:t>
            </a:r>
            <a:r>
              <a:rPr lang="cs-CZ" sz="2400" dirty="0" err="1"/>
              <a:t>trojany</a:t>
            </a:r>
            <a:r>
              <a:rPr lang="cs-CZ" sz="2400" dirty="0"/>
              <a:t> se objevily už v 80. letech.</a:t>
            </a:r>
          </a:p>
          <a:p>
            <a:r>
              <a:rPr lang="cs-CZ" sz="2400" b="1" dirty="0"/>
              <a:t>AIDS Trojan (1989)</a:t>
            </a:r>
            <a:r>
              <a:rPr lang="cs-CZ" sz="2400" dirty="0"/>
              <a:t> – vydáván jako "AIDS </a:t>
            </a:r>
            <a:r>
              <a:rPr lang="cs-CZ" sz="2400" dirty="0" err="1"/>
              <a:t>Information</a:t>
            </a:r>
            <a:r>
              <a:rPr lang="cs-CZ" sz="2400" dirty="0"/>
              <a:t> Disk". Po několika spuštěních zašifroval soubory a vyžadoval peníze – první známý "ransomware".</a:t>
            </a:r>
          </a:p>
          <a:p>
            <a:r>
              <a:rPr lang="cs-CZ" sz="2400" dirty="0"/>
              <a:t>Trojan se tváří jako užitečný program, ale ve skutečnosti provádí škodlivé činnosti.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633043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5DF9-2C30-55DC-4A1B-D24DF3C8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89C81CB0-DBCC-4970-247C-146403A0A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F854831C-66B9-AC99-A9E4-4A23B44D39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4. Makro viry</a:t>
            </a:r>
          </a:p>
          <a:p>
            <a:r>
              <a:rPr lang="cs-CZ" sz="2400" b="1" dirty="0" err="1"/>
              <a:t>Concept</a:t>
            </a:r>
            <a:r>
              <a:rPr lang="cs-CZ" sz="2400" b="1" dirty="0"/>
              <a:t> (1995)</a:t>
            </a:r>
            <a:r>
              <a:rPr lang="cs-CZ" sz="2400" dirty="0"/>
              <a:t> – první velký </a:t>
            </a:r>
            <a:r>
              <a:rPr lang="cs-CZ" sz="2400" dirty="0" err="1"/>
              <a:t>makrovirus</a:t>
            </a:r>
            <a:r>
              <a:rPr lang="cs-CZ" sz="2400" dirty="0"/>
              <a:t>, šířil se pomocí souborů Microsoft Word. Stačilo otevřít dokument a virus se spustil.</a:t>
            </a:r>
          </a:p>
          <a:p>
            <a:r>
              <a:rPr lang="cs-CZ" sz="2400" dirty="0"/>
              <a:t>Tento typ byl populární v 90. letech, protože se snadno šířil e-maily.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0687027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4661-2390-F503-C25B-51E2A41E3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3A7291C5-BBCC-A252-85A8-047448747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4D6A3DC2-083A-6A4F-9E8E-6DADE98228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5. E-mailové viry</a:t>
            </a:r>
          </a:p>
          <a:p>
            <a:r>
              <a:rPr lang="cs-CZ" sz="2400" b="1" dirty="0"/>
              <a:t>Melissa (1999)</a:t>
            </a:r>
            <a:r>
              <a:rPr lang="cs-CZ" sz="2400" dirty="0"/>
              <a:t> – jeden z prvních velkých e-mailových virů. Posílal se automaticky na kontakty z Outlooku a způsobil zahlcení e-mailových serverů.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774329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9323-CA61-AB60-9497-1DFA4B17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59B40923-C641-7CA4-F31D-6667C099F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2E3FC53D-9B8D-FDC4-1C34-C134D3275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6. Internetoví červi nové generace</a:t>
            </a:r>
          </a:p>
          <a:p>
            <a:r>
              <a:rPr lang="cs-CZ" sz="2400" b="1" dirty="0"/>
              <a:t>ILOVEYOU (2000)</a:t>
            </a:r>
            <a:r>
              <a:rPr lang="cs-CZ" sz="2400" dirty="0"/>
              <a:t> – velmi známý e-mailový červ z Filipín. Maskoval se jako milostný dopis, napadl miliony počítačů a způsobil škody v řádech miliard dolarů.</a:t>
            </a:r>
          </a:p>
          <a:p>
            <a:r>
              <a:rPr lang="cs-CZ" sz="2400" b="1" dirty="0" err="1"/>
              <a:t>Code</a:t>
            </a:r>
            <a:r>
              <a:rPr lang="cs-CZ" sz="2400" b="1" dirty="0"/>
              <a:t> </a:t>
            </a:r>
            <a:r>
              <a:rPr lang="cs-CZ" sz="2400" b="1" dirty="0" err="1"/>
              <a:t>Red</a:t>
            </a:r>
            <a:r>
              <a:rPr lang="cs-CZ" sz="2400" b="1" dirty="0"/>
              <a:t> (2001)</a:t>
            </a:r>
            <a:r>
              <a:rPr lang="cs-CZ" sz="2400" dirty="0"/>
              <a:t> – napadal servery Microsoft IIS. Rychle se šířil po internetu a napadal webové stránky.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147119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0B06-56AC-02AB-BBF1-DDEE83D41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B070D39E-2013-D452-882D-81C8B012A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4C4E7ED8-1865-52ED-2263-BAB7DD21A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7. </a:t>
            </a:r>
            <a:r>
              <a:rPr lang="cs-CZ" sz="2400" b="1" dirty="0" err="1"/>
              <a:t>Rootkity</a:t>
            </a:r>
            <a:r>
              <a:rPr lang="cs-CZ" sz="2400" b="1" dirty="0"/>
              <a:t> a </a:t>
            </a:r>
            <a:r>
              <a:rPr lang="cs-CZ" sz="2400" b="1" dirty="0" err="1"/>
              <a:t>botnety</a:t>
            </a:r>
            <a:endParaRPr lang="cs-CZ" sz="2400" b="1" dirty="0"/>
          </a:p>
          <a:p>
            <a:r>
              <a:rPr lang="cs-CZ" sz="2400" dirty="0"/>
              <a:t>Od poloviny roku 2000 se začaly šířit viry, které tvořily </a:t>
            </a:r>
            <a:r>
              <a:rPr lang="cs-CZ" sz="2400" b="1" dirty="0" err="1"/>
              <a:t>botnety</a:t>
            </a:r>
            <a:r>
              <a:rPr lang="cs-CZ" sz="2400" dirty="0"/>
              <a:t> – sítě napadených počítačů ovládaných útočníkem.</a:t>
            </a:r>
          </a:p>
          <a:p>
            <a:r>
              <a:rPr lang="cs-CZ" sz="2400" dirty="0"/>
              <a:t>Příkladem je </a:t>
            </a:r>
            <a:r>
              <a:rPr lang="cs-CZ" sz="2400" b="1" dirty="0" err="1"/>
              <a:t>Storm</a:t>
            </a:r>
            <a:r>
              <a:rPr lang="cs-CZ" sz="2400" b="1" dirty="0"/>
              <a:t> </a:t>
            </a:r>
            <a:r>
              <a:rPr lang="cs-CZ" sz="2400" b="1" dirty="0" err="1"/>
              <a:t>Worm</a:t>
            </a:r>
            <a:r>
              <a:rPr lang="cs-CZ" sz="2400" b="1" dirty="0"/>
              <a:t> (2007)</a:t>
            </a:r>
            <a:r>
              <a:rPr lang="cs-CZ" sz="2400" dirty="0"/>
              <a:t>, který vytvořil jednu z největších </a:t>
            </a:r>
            <a:r>
              <a:rPr lang="cs-CZ" sz="2400" dirty="0" err="1"/>
              <a:t>botnetových</a:t>
            </a:r>
            <a:r>
              <a:rPr lang="cs-CZ" sz="2400" dirty="0"/>
              <a:t> sítí.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709516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D63F-D158-3D12-B2F3-B10F4BDE0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1D7A60A4-1BCB-9DAF-C72A-49E42E08B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cs-CZ" b="1" dirty="0"/>
              <a:t>Historie PC virů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A00E2ED5-7BF0-C362-9536-C1DFFD6E3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4403725"/>
          </a:xfrm>
        </p:spPr>
        <p:txBody>
          <a:bodyPr/>
          <a:lstStyle/>
          <a:p>
            <a:r>
              <a:rPr lang="cs-CZ" sz="2400" b="1" dirty="0"/>
              <a:t>8. Moderní hrozby</a:t>
            </a:r>
          </a:p>
          <a:p>
            <a:r>
              <a:rPr lang="cs-CZ" sz="2400" b="1" dirty="0" err="1"/>
              <a:t>Stuxnet</a:t>
            </a:r>
            <a:r>
              <a:rPr lang="cs-CZ" sz="2400" b="1" dirty="0"/>
              <a:t> (2010)</a:t>
            </a:r>
            <a:r>
              <a:rPr lang="cs-CZ" sz="2400" dirty="0"/>
              <a:t> – velmi sofistikovaný červ vytvořený neznámo kým a objeven Běloruskem. Útočil na íránské jaderné zařízení, dokázal sabotovat průmyslové řídicí systémy.</a:t>
            </a:r>
          </a:p>
          <a:p>
            <a:r>
              <a:rPr lang="cs-CZ" sz="2400" b="1" dirty="0" err="1"/>
              <a:t>WannaCry</a:t>
            </a:r>
            <a:r>
              <a:rPr lang="cs-CZ" sz="2400" b="1" dirty="0"/>
              <a:t> (2017)</a:t>
            </a:r>
            <a:r>
              <a:rPr lang="cs-CZ" sz="2400" dirty="0"/>
              <a:t> – ransomware, který využíval chybu ve Windows a zašifroval data na statisících počítačů. Vyžadoval výkupné v </a:t>
            </a:r>
            <a:r>
              <a:rPr lang="cs-CZ" sz="2400" dirty="0" err="1"/>
              <a:t>bitcoinech</a:t>
            </a:r>
            <a:r>
              <a:rPr lang="cs-CZ" sz="2400" dirty="0"/>
              <a:t>.</a:t>
            </a:r>
          </a:p>
          <a:p>
            <a:pPr>
              <a:buFont typeface="Symbol" panose="05050102010706020507" pitchFamily="18" charset="2"/>
              <a:buChar char=""/>
            </a:pPr>
            <a:endParaRPr lang="cs-CZ" altLang="cs-CZ" sz="2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672934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13">
            <a:extLst>
              <a:ext uri="{FF2B5EF4-FFF2-40B4-BE49-F238E27FC236}">
                <a16:creationId xmlns:a16="http://schemas.microsoft.com/office/drawing/2014/main" id="{947E846A-E503-4E0C-9F51-E2E15562F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b="1"/>
              <a:t>Ochrana proti virům</a:t>
            </a: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DFF7B414-5ACA-3212-FFA1-F00110655D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077200" cy="3971925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2000"/>
              <a:t>Virus se do počítače může dostat různými způsoby (disketou, dokumentem Microsoft Office, emailem, spolu se zavirovaným programem, mnoha způsoby po síti...), zdaleka nejčastějším způsobem nakažení je v dnešní době internet.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100% ochrana proti virům bohužel neexistuje, nicméně nejspolehlivější ochrana proti nákaze je kombinace následujících přístupů: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Rozumné chování uživatelů 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Lokálně nainstalovaný a pravidelně aktualizovaný antivirový program 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Pravidelná aktualizace vašeho operačního systému 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F9F35664-7843-C78D-CBF4-BBDAEA3FE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sz="4000" b="1"/>
              <a:t>Informovanost a bezpečné chování základem ochrany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5D27B7D5-DDE9-35C3-DBBB-0EEDA7C4B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buFontTx/>
              <a:buNone/>
            </a:pPr>
            <a:r>
              <a:rPr lang="cs-CZ" altLang="cs-CZ" sz="2800" b="1"/>
              <a:t>	Stejně jako vhodným oblečením omezíte riziko nákazy chřipkou, riziko zavirování svého počítače značně snížíte, pokud dodržíte následující zásady:</a:t>
            </a:r>
          </a:p>
          <a:p>
            <a:pPr>
              <a:lnSpc>
                <a:spcPct val="105000"/>
              </a:lnSpc>
            </a:pPr>
            <a:r>
              <a:rPr lang="cs-CZ" altLang="cs-CZ" sz="2800" b="1"/>
              <a:t>Neotvírat přílohy, které vám zasílá neznámý člověk </a:t>
            </a:r>
          </a:p>
          <a:p>
            <a:pPr>
              <a:lnSpc>
                <a:spcPct val="105000"/>
              </a:lnSpc>
            </a:pPr>
            <a:r>
              <a:rPr lang="cs-CZ" altLang="zh-CN" sz="2800" b="1"/>
              <a:t>Neotvírat přílohy, které vám zasílá známý člověk, ale na jejich zaslání jste se nedomlouvali, nebo jsou jinak podezřelé</a:t>
            </a:r>
            <a:r>
              <a:rPr lang="cs-CZ" altLang="zh-CN" sz="2800"/>
              <a:t> </a:t>
            </a:r>
            <a:endParaRPr lang="cs-CZ" altLang="cs-CZ" sz="280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E73D9E82-E254-8BF5-A41A-73B51A7EC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sz="4000" b="1"/>
              <a:t>Informovanost a bezpečné chování základem ochrany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55A7C60C-224A-A13D-3143-79EF5E0A84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2400" b="1"/>
              <a:t>Nastavení poštovního klienta, aby přílohy sám neotvíral (zejména starší verze Outlook Express) </a:t>
            </a:r>
          </a:p>
          <a:p>
            <a:pPr>
              <a:lnSpc>
                <a:spcPct val="105000"/>
              </a:lnSpc>
            </a:pPr>
            <a:r>
              <a:rPr lang="cs-CZ" altLang="cs-CZ" sz="2400" b="1"/>
              <a:t>Nevěřit jakýmkoliv zprávám, které vás přímo či nepřímo (formou odkazu) vyzývají k zadání čísla kreditní karty a podobně (tzv. phishing) </a:t>
            </a:r>
          </a:p>
          <a:p>
            <a:pPr>
              <a:lnSpc>
                <a:spcPct val="105000"/>
              </a:lnSpc>
            </a:pPr>
            <a:r>
              <a:rPr lang="cs-CZ" altLang="zh-CN" sz="2400" b="1"/>
              <a:t>Při návštěvě nebezpečných stránek nesouhlasit s instalací čehokoliv (různé toolbary a podobně) do vašeho počítače a nespouštět/nestahovat žádné programy (může se jednat například o tzv. dialery, které přesměrují vaše vytáčení k internetu do Austrálie)</a:t>
            </a:r>
            <a:r>
              <a:rPr lang="cs-CZ" altLang="zh-CN" sz="2400"/>
              <a:t> </a:t>
            </a:r>
            <a:endParaRPr lang="cs-CZ" altLang="cs-CZ" sz="240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BD8535CE-4E8F-A02D-BD96-7298AA66E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sz="4000" b="1"/>
              <a:t>Použití spolehlivého antivirového programu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70F5F6D5-2511-2C2A-6C07-325A1C3A3F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6923088" cy="4403725"/>
          </a:xfrm>
        </p:spPr>
        <p:txBody>
          <a:bodyPr/>
          <a:lstStyle/>
          <a:p>
            <a:pPr marL="0" indent="0"/>
            <a:r>
              <a:rPr lang="cs-CZ" altLang="cs-CZ" sz="2800"/>
              <a:t>Jednoduchá instalace </a:t>
            </a:r>
          </a:p>
          <a:p>
            <a:pPr marL="0" indent="0"/>
            <a:r>
              <a:rPr lang="cs-CZ" altLang="cs-CZ" sz="2800"/>
              <a:t>Příjemné uživatelské prostředí </a:t>
            </a:r>
          </a:p>
          <a:p>
            <a:pPr marL="0" indent="0"/>
            <a:r>
              <a:rPr lang="cs-CZ" altLang="cs-CZ" sz="2800"/>
              <a:t>Založeno na technologii ThreatSense (detekce i dosud neznámých virů) </a:t>
            </a:r>
          </a:p>
          <a:p>
            <a:pPr marL="0" indent="0"/>
            <a:r>
              <a:rPr lang="cs-CZ" altLang="cs-CZ" sz="2800"/>
              <a:t>Heuristická kontrola dat</a:t>
            </a:r>
          </a:p>
          <a:p>
            <a:pPr marL="0" indent="0"/>
            <a:r>
              <a:rPr lang="cs-CZ" altLang="cs-CZ" sz="2800"/>
              <a:t>Nepřetržitá ochrana </a:t>
            </a:r>
          </a:p>
          <a:p>
            <a:pPr marL="0" indent="0"/>
            <a:r>
              <a:rPr lang="cs-CZ" altLang="cs-CZ" sz="2800"/>
              <a:t>Automatická aktualizace přes internet </a:t>
            </a:r>
          </a:p>
        </p:txBody>
      </p:sp>
      <p:pic>
        <p:nvPicPr>
          <p:cNvPr id="279556" name="Picture 4">
            <a:extLst>
              <a:ext uri="{FF2B5EF4-FFF2-40B4-BE49-F238E27FC236}">
                <a16:creationId xmlns:a16="http://schemas.microsoft.com/office/drawing/2014/main" id="{0367A226-C4DA-3B81-9355-A947FBDFF14B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4388" y="1916113"/>
            <a:ext cx="1143000" cy="1771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9558" name="Picture 6" descr="AVG Anti-Virus Professional Edition 7.5">
            <a:extLst>
              <a:ext uri="{FF2B5EF4-FFF2-40B4-BE49-F238E27FC236}">
                <a16:creationId xmlns:a16="http://schemas.microsoft.com/office/drawing/2014/main" id="{4C162B18-F801-D4DC-FB49-970E61499060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24750" y="188913"/>
            <a:ext cx="1217613" cy="17287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79563" name="Picture 11" descr="Norton Internet Security">
            <a:hlinkClick r:id="rId4" tooltip="Odkaz na Norton Internet Security"/>
            <a:extLst>
              <a:ext uri="{FF2B5EF4-FFF2-40B4-BE49-F238E27FC236}">
                <a16:creationId xmlns:a16="http://schemas.microsoft.com/office/drawing/2014/main" id="{80533CCD-FF4E-1EEF-05ED-F7BB087F3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5734050"/>
            <a:ext cx="14859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565" name="Picture 13" descr="Krabice avast! 4 Professional">
            <a:extLst>
              <a:ext uri="{FF2B5EF4-FFF2-40B4-BE49-F238E27FC236}">
                <a16:creationId xmlns:a16="http://schemas.microsoft.com/office/drawing/2014/main" id="{7416E44D-9AD1-CEE3-AAA3-89C7722F4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3789363"/>
            <a:ext cx="1655763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9B4A70DD-5B03-BFF4-A039-9F79C2866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sz="4000" b="1"/>
              <a:t>Použití spolehlivého antivirového programu</a:t>
            </a: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9348CAA1-6F75-2509-0EF6-C82FAE6D8F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6923088" cy="4403725"/>
          </a:xfrm>
        </p:spPr>
        <p:txBody>
          <a:bodyPr/>
          <a:lstStyle/>
          <a:p>
            <a:pPr marL="0" indent="0">
              <a:lnSpc>
                <a:spcPct val="105000"/>
              </a:lnSpc>
            </a:pPr>
            <a:r>
              <a:rPr lang="cs-CZ" altLang="cs-CZ" sz="1600" b="1"/>
              <a:t>Alwil avast! 4.7.817 home edition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Avira AntiVir PersonalEdition Classic 7.00.00.08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BitDefender 9 Internet Security Build 9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Dr.Web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Eset NOD32 Antivirus System 2.51.26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F-Prot Antivirus for Windows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F-Secure Internet Security 2006 6.12 build 90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Grisoft AVG Anti-Virus 7.5 plus Firewall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Kašpersky AntiVirus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McAfee Internet Security Suite 2005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Norman Virus Control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Norton Internet Security 2006 12.0.0.94b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Panda Platinum 2005 Internet Security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PC-cillin Internet Security 2005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Quick Heal </a:t>
            </a:r>
          </a:p>
          <a:p>
            <a:pPr marL="0" indent="0">
              <a:lnSpc>
                <a:spcPct val="105000"/>
              </a:lnSpc>
            </a:pPr>
            <a:r>
              <a:rPr lang="cs-CZ" altLang="cs-CZ" sz="1600" b="1"/>
              <a:t>TrustPort Workstation Antivirus</a:t>
            </a:r>
          </a:p>
        </p:txBody>
      </p:sp>
      <p:pic>
        <p:nvPicPr>
          <p:cNvPr id="290820" name="Picture 4">
            <a:extLst>
              <a:ext uri="{FF2B5EF4-FFF2-40B4-BE49-F238E27FC236}">
                <a16:creationId xmlns:a16="http://schemas.microsoft.com/office/drawing/2014/main" id="{B8380A24-CD88-02CF-D20E-4DDF75846191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64388" y="1916113"/>
            <a:ext cx="1143000" cy="17716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0821" name="Picture 5" descr="AVG Anti-Virus Professional Edition 7.5">
            <a:extLst>
              <a:ext uri="{FF2B5EF4-FFF2-40B4-BE49-F238E27FC236}">
                <a16:creationId xmlns:a16="http://schemas.microsoft.com/office/drawing/2014/main" id="{26BDDF9E-4715-380F-C61F-FDBBB03CB103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24750" y="188913"/>
            <a:ext cx="1217613" cy="17287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90822" name="Picture 6" descr="Norton Internet Security">
            <a:hlinkClick r:id="rId4" tooltip="Odkaz na Norton Internet Security"/>
            <a:extLst>
              <a:ext uri="{FF2B5EF4-FFF2-40B4-BE49-F238E27FC236}">
                <a16:creationId xmlns:a16="http://schemas.microsoft.com/office/drawing/2014/main" id="{909AB742-5A3F-BAC8-3839-B7B938C99B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5734050"/>
            <a:ext cx="14859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3" name="Picture 7" descr="Krabice avast! 4 Professional">
            <a:extLst>
              <a:ext uri="{FF2B5EF4-FFF2-40B4-BE49-F238E27FC236}">
                <a16:creationId xmlns:a16="http://schemas.microsoft.com/office/drawing/2014/main" id="{71D8785E-3688-525B-F222-A19FD8436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3789363"/>
            <a:ext cx="1655763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C0F1F8B9-6A84-C41B-7DA8-4CC82BD72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sz="4000" b="1"/>
              <a:t>Pravidelná aktualizace operačního systému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D04EB6C7-8D1F-8D32-05D7-7B15506755B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8507413" cy="4495800"/>
          </a:xfrm>
        </p:spPr>
        <p:txBody>
          <a:bodyPr/>
          <a:lstStyle/>
          <a:p>
            <a:r>
              <a:rPr lang="cs-CZ" altLang="cs-CZ" sz="2400"/>
              <a:t>Výrobci operačních systémů pravidelně reagují na nově objevené bezpečnostní "díry" ve svých produktech a vydávají tzv.“bezpečnostní záplaty“(Servis Pack).</a:t>
            </a:r>
          </a:p>
          <a:p>
            <a:r>
              <a:rPr lang="cs-CZ" altLang="cs-CZ" sz="2400"/>
              <a:t>Pravidelné záplatování těchto bezpečnostních děr je velmi důležité, neboť většina virů a červů využívá mimo důvěřivosti uživatelů zejména tyto slabiny.</a:t>
            </a:r>
          </a:p>
          <a:p>
            <a:r>
              <a:rPr lang="cs-CZ" altLang="cs-CZ" sz="2400"/>
              <a:t>Nejlepší formou ochrany je automatická aktualizace prostřednictvím sítě internet.</a:t>
            </a: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55BA7153-AE2C-179E-88CC-4ED90AE2C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b="1"/>
              <a:t>Ochrana proti spyware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D927EE6A-6B30-11D1-409A-DB41D980FC5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8002588" cy="449580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2000"/>
              <a:t>Spyware, Adware či Dialery jsou nepříjemné aplikace, které můžete "chytit" zejména při prohlížení nebezpečných stránek (instalace "vylepšení" prohlížeče), popřípadě souběžně s instalací některého programu, ke kterému občas bývá Spyware "přibalen".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Spyware pak sleduje počínání uživatele a o jeho činnosti informuje svého autora. Může se jednat o zjišťování informací o navštívených stránkách, ale i například zjišťování zadávaných hesel a jejich odesílání.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Adware se projevuje zejména "vyskakováním" nechtěných reklamních oken, změněnou úvodní stránkou v Exploreru a podobně.</a:t>
            </a:r>
          </a:p>
          <a:p>
            <a:pPr>
              <a:lnSpc>
                <a:spcPct val="105000"/>
              </a:lnSpc>
            </a:pPr>
            <a:r>
              <a:rPr lang="cs-CZ" altLang="cs-CZ" sz="2000"/>
              <a:t>Funkcí Dialeru je přesměrovat vaše připojení k internetu na draze placenou linku. 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4E2EEC3D-A777-3A9F-2552-0D35F7473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cs-CZ" altLang="cs-CZ" b="1"/>
              <a:t>Jak se bránit?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5694A32A-A218-4ACF-0FCF-7F5B5C41F3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8002588" cy="4692650"/>
          </a:xfrm>
        </p:spPr>
        <p:txBody>
          <a:bodyPr/>
          <a:lstStyle/>
          <a:p>
            <a:pPr>
              <a:lnSpc>
                <a:spcPct val="105000"/>
              </a:lnSpc>
            </a:pPr>
            <a:r>
              <a:rPr lang="cs-CZ" altLang="cs-CZ" sz="2400"/>
              <a:t>Stejně jako v případě antivirů, 100% ochrana neexistuje. Nejlepší obranou je dodržení základních bezpečnostních pravidel a ochrana počítače některým z nástrojů na detekci a odstranění spyware.</a:t>
            </a:r>
          </a:p>
          <a:p>
            <a:pPr>
              <a:lnSpc>
                <a:spcPct val="105000"/>
              </a:lnSpc>
            </a:pPr>
            <a:r>
              <a:rPr lang="cs-CZ" altLang="cs-CZ" sz="2400"/>
              <a:t>Neinstalovat žádné podezřelé doplňky a vylepšení </a:t>
            </a:r>
          </a:p>
          <a:p>
            <a:pPr>
              <a:lnSpc>
                <a:spcPct val="105000"/>
              </a:lnSpc>
            </a:pPr>
            <a:r>
              <a:rPr lang="cs-CZ" altLang="cs-CZ" sz="2400"/>
              <a:t>Pravidelná aktualizace vašeho operačního systému a internetového prohlížeče </a:t>
            </a:r>
          </a:p>
          <a:p>
            <a:pPr>
              <a:lnSpc>
                <a:spcPct val="105000"/>
              </a:lnSpc>
            </a:pPr>
            <a:r>
              <a:rPr lang="cs-CZ" altLang="cs-CZ" sz="2400"/>
              <a:t>Využívání a pravidelná aktualizace spolehlivého antivirového systému </a:t>
            </a:r>
          </a:p>
          <a:p>
            <a:pPr>
              <a:lnSpc>
                <a:spcPct val="105000"/>
              </a:lnSpc>
            </a:pPr>
            <a:r>
              <a:rPr lang="cs-CZ" altLang="cs-CZ" sz="2400"/>
              <a:t>Využívání a pravidelná aktualizace programu pro detekci a odstranění spyware 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D126771A-77B6-DDB5-04E4-3C2FAB22C90A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ctr"/>
            <a:r>
              <a:rPr lang="cs-CZ" altLang="cs-CZ" b="1"/>
              <a:t>Jak se bránit?</a:t>
            </a:r>
          </a:p>
        </p:txBody>
      </p:sp>
      <p:pic>
        <p:nvPicPr>
          <p:cNvPr id="285700" name="Picture 4">
            <a:extLst>
              <a:ext uri="{FF2B5EF4-FFF2-40B4-BE49-F238E27FC236}">
                <a16:creationId xmlns:a16="http://schemas.microsoft.com/office/drawing/2014/main" id="{1E07541D-A8ED-6A64-E1E0-D1788CB382E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13" y="1557338"/>
            <a:ext cx="2592387" cy="15811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5702" name="Picture 6">
            <a:extLst>
              <a:ext uri="{FF2B5EF4-FFF2-40B4-BE49-F238E27FC236}">
                <a16:creationId xmlns:a16="http://schemas.microsoft.com/office/drawing/2014/main" id="{2E5CEA0B-BB41-C17C-5925-CB26B041CA81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4025" y="3716338"/>
            <a:ext cx="1371600" cy="14859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5705" name="Picture 9">
            <a:extLst>
              <a:ext uri="{FF2B5EF4-FFF2-40B4-BE49-F238E27FC236}">
                <a16:creationId xmlns:a16="http://schemas.microsoft.com/office/drawing/2014/main" id="{E9FE1AB9-DF7C-DC46-3C7D-09C398052C1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7088" y="3500438"/>
            <a:ext cx="2663825" cy="18176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5708" name="Picture 12">
            <a:extLst>
              <a:ext uri="{FF2B5EF4-FFF2-40B4-BE49-F238E27FC236}">
                <a16:creationId xmlns:a16="http://schemas.microsoft.com/office/drawing/2014/main" id="{2CDF24CF-49E5-09E9-D5F7-263F3FF77292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1275" y="1557338"/>
            <a:ext cx="2532063" cy="15478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33F1-CCDE-FB8E-FE6C-7CB6E035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1799E40B-78E6-9CC2-144C-4FD7FF92A4EE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algn="ctr"/>
            <a:r>
              <a:rPr lang="cs-CZ" altLang="cs-CZ" b="1" dirty="0"/>
              <a:t>Děkuji za pozornost!</a:t>
            </a:r>
          </a:p>
        </p:txBody>
      </p:sp>
      <p:pic>
        <p:nvPicPr>
          <p:cNvPr id="306178" name="Picture 2" descr="Co může ohrozit váš počítač a jak se proti tomu bránit | IT Parťák">
            <a:extLst>
              <a:ext uri="{FF2B5EF4-FFF2-40B4-BE49-F238E27FC236}">
                <a16:creationId xmlns:a16="http://schemas.microsoft.com/office/drawing/2014/main" id="{0C672E3B-670F-282E-4714-B51EA479B819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12" y="1844279"/>
            <a:ext cx="6865764" cy="4318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1833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6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ezentace Školicí seminář">
  <a:themeElements>
    <a:clrScheme name="Prezentace Školicí seminář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FF9933"/>
      </a:hlink>
      <a:folHlink>
        <a:srgbClr val="B2B2B2"/>
      </a:folHlink>
    </a:clrScheme>
    <a:fontScheme name="Prezentace Školicí seminář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Prezentace Školicí seminář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zentace Školicí seminář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zentace Školicí seminář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zentace Školicí seminář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zentace Školicí seminář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zentace Školicí seminář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zentace Školicí seminář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zentace Školicí seminář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FF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Prezentace Školicí seminář</Template>
  <TotalTime>241</TotalTime>
  <Words>2076</Words>
  <Application>Microsoft Office PowerPoint</Application>
  <PresentationFormat>Předvádění na obrazovce (4:3)</PresentationFormat>
  <Paragraphs>176</Paragraphs>
  <Slides>36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36</vt:i4>
      </vt:variant>
    </vt:vector>
  </HeadingPairs>
  <TitlesOfParts>
    <vt:vector size="41" baseType="lpstr">
      <vt:lpstr>Arial</vt:lpstr>
      <vt:lpstr>Symbol</vt:lpstr>
      <vt:lpstr>Times New Roman</vt:lpstr>
      <vt:lpstr>Trebuchet MS</vt:lpstr>
      <vt:lpstr>Prezentace Školicí seminář</vt:lpstr>
      <vt:lpstr>Spolehlivá antivirová  a  antispamová ochrana</vt:lpstr>
      <vt:lpstr>Antivirová ochrana </vt:lpstr>
      <vt:lpstr>Vysvětlení základních pojmů</vt:lpstr>
      <vt:lpstr>Vysvětlení základních pojmů</vt:lpstr>
      <vt:lpstr>Vysvětlení základních pojmů</vt:lpstr>
      <vt:lpstr>Jak se viry šíří</vt:lpstr>
      <vt:lpstr>Typy virů - SOUBOROVÉ VIRY</vt:lpstr>
      <vt:lpstr>Typy virů - BOOTVIRY</vt:lpstr>
      <vt:lpstr>Typy virů - MULTIPARTITNÍ</vt:lpstr>
      <vt:lpstr>Typy virů - MAKROVIRY</vt:lpstr>
      <vt:lpstr>Vysvětlení základních pojmů</vt:lpstr>
      <vt:lpstr>Vysvětlení základních pojmů</vt:lpstr>
      <vt:lpstr>Vysvětlení základních pojmů</vt:lpstr>
      <vt:lpstr>Vysvětlení základních pojmů</vt:lpstr>
      <vt:lpstr>Jak HOAX poznáme </vt:lpstr>
      <vt:lpstr>Jak HOAX poznáme</vt:lpstr>
      <vt:lpstr>Odkazy</vt:lpstr>
      <vt:lpstr>Historie PC virů</vt:lpstr>
      <vt:lpstr>Historie PC virů</vt:lpstr>
      <vt:lpstr>Historie PC virů</vt:lpstr>
      <vt:lpstr>Historie PC virů</vt:lpstr>
      <vt:lpstr>Historie PC virů</vt:lpstr>
      <vt:lpstr>Historie PC virů</vt:lpstr>
      <vt:lpstr>Historie PC virů</vt:lpstr>
      <vt:lpstr>Historie PC virů</vt:lpstr>
      <vt:lpstr>Historie PC virů</vt:lpstr>
      <vt:lpstr>Ochrana proti virům</vt:lpstr>
      <vt:lpstr>Informovanost a bezpečné chování základem ochrany</vt:lpstr>
      <vt:lpstr>Informovanost a bezpečné chování základem ochrany</vt:lpstr>
      <vt:lpstr>Použití spolehlivého antivirového programu</vt:lpstr>
      <vt:lpstr>Použití spolehlivého antivirového programu</vt:lpstr>
      <vt:lpstr>Pravidelná aktualizace operačního systému</vt:lpstr>
      <vt:lpstr>Ochrana proti spyware</vt:lpstr>
      <vt:lpstr>Jak se bránit?</vt:lpstr>
      <vt:lpstr>Jak se bránit?</vt:lpstr>
      <vt:lpstr>Děkuji za pozornost!</vt:lpstr>
    </vt:vector>
  </TitlesOfParts>
  <Manager/>
  <Company>Střední odborná škola Benešov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Spolehlivá antivirová a antispamová ochrana</dc:title>
  <dc:subject/>
  <dc:creator>VIZIR</dc:creator>
  <cp:keywords/>
  <dc:description/>
  <cp:lastModifiedBy>Valím Roman, Bc.</cp:lastModifiedBy>
  <cp:revision>37</cp:revision>
  <dcterms:created xsi:type="dcterms:W3CDTF">2007-03-08T17:58:27Z</dcterms:created>
  <dcterms:modified xsi:type="dcterms:W3CDTF">2025-09-16T05:47:26Z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TC062561681029</vt:lpwstr>
  </property>
</Properties>
</file>